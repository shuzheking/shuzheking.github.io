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05" autoAdjust="0"/>
    <p:restoredTop sz="94660"/>
  </p:normalViewPr>
  <p:slideViewPr>
    <p:cSldViewPr snapToGrid="0">
      <p:cViewPr varScale="1">
        <p:scale>
          <a:sx n="94" d="100"/>
          <a:sy n="94" d="100"/>
        </p:scale>
        <p:origin x="264" y="576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133474" y="2550320"/>
            <a:ext cx="7281863" cy="2205038"/>
          </a:xfrm>
          <a:prstGeom prst="rect">
            <a:avLst/>
          </a:prstGeom>
        </p:spPr>
        <p:txBody>
          <a:bodyPr/>
          <a:lstStyle>
            <a:lvl1pPr>
              <a:defRPr sz="6300" b="1" baseline="0">
                <a:solidFill>
                  <a:schemeClr val="bg1"/>
                </a:solidFill>
                <a:latin typeface="Arial" panose="020B0604020202020204" pitchFamily="34" charset="0"/>
                <a:ea typeface="華康儷粗黑" panose="020B0709000000000000" pitchFamily="49" charset="-12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noProof="0" dirty="0"/>
              <a:t>Click to edit the text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836341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K" altLang="en-US" dirty="0"/>
          </a:p>
        </p:txBody>
      </p:sp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641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249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39345" y="3060147"/>
            <a:ext cx="14235632" cy="2205038"/>
          </a:xfrm>
        </p:spPr>
        <p:txBody>
          <a:bodyPr>
            <a:normAutofit fontScale="90000"/>
          </a:bodyPr>
          <a:lstStyle/>
          <a:p>
            <a:r>
              <a:rPr lang="en-US" altLang="zh-HK" dirty="0" err="1"/>
              <a:t>OpenVLA</a:t>
            </a:r>
            <a:r>
              <a:rPr lang="en-US" altLang="zh-HK" dirty="0"/>
              <a:t>-OFT: </a:t>
            </a:r>
            <a:br>
              <a:rPr lang="en-US" altLang="zh-HK" dirty="0"/>
            </a:br>
            <a:br>
              <a:rPr lang="en-US" altLang="zh-HK" dirty="0"/>
            </a:br>
            <a:r>
              <a:rPr lang="en-US" altLang="zh-HK" dirty="0"/>
              <a:t>Fine-Tuning Vision-Language-Action Models: Optimizing Speed and Success </a:t>
            </a:r>
            <a:endParaRPr lang="zh-HK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4294967295"/>
          </p:nvPr>
        </p:nvSpPr>
        <p:spPr>
          <a:xfrm>
            <a:off x="1039345" y="7226853"/>
            <a:ext cx="13716000" cy="24844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sz="4500" spc="150" dirty="0">
                <a:solidFill>
                  <a:srgbClr val="99CC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Zheng Licheng</a:t>
            </a:r>
          </a:p>
          <a:p>
            <a:pPr marL="0" indent="0">
              <a:buNone/>
            </a:pPr>
            <a:r>
              <a:rPr lang="en-US" altLang="zh-HK" sz="4500" spc="150" dirty="0">
                <a:solidFill>
                  <a:srgbClr val="99CC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 </a:t>
            </a:r>
            <a:r>
              <a:rPr lang="en-US" altLang="zh-HK" sz="4500" spc="150" dirty="0" err="1">
                <a:solidFill>
                  <a:srgbClr val="99CC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Haokun</a:t>
            </a:r>
            <a:endParaRPr lang="en-US" altLang="zh-HK" sz="4500" spc="150" dirty="0">
              <a:solidFill>
                <a:srgbClr val="99CC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HK" sz="4500" spc="150" dirty="0">
                <a:solidFill>
                  <a:srgbClr val="99CC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Chen </a:t>
            </a:r>
            <a:r>
              <a:rPr lang="en-US" altLang="zh-HK" sz="4500" spc="150">
                <a:solidFill>
                  <a:srgbClr val="99CC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Ruanhe</a:t>
            </a:r>
            <a:endParaRPr lang="zh-HK" altLang="en-US" sz="4500" spc="150" dirty="0">
              <a:solidFill>
                <a:srgbClr val="99CC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976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02470" y="145229"/>
            <a:ext cx="1234440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68580" rIns="137160" bIns="6858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6000" b="1" dirty="0">
                <a:solidFill>
                  <a:schemeClr val="bg1"/>
                </a:solidFill>
                <a:latin typeface="Arial" panose="020B0604020202020204" pitchFamily="34" charset="0"/>
                <a:ea typeface="華康儷粗黑(P)" panose="020B0700000000000000" pitchFamily="34" charset="-120"/>
                <a:cs typeface="Arial" panose="020B0604020202020204" pitchFamily="34" charset="0"/>
              </a:rPr>
              <a:t>Content</a:t>
            </a:r>
            <a:endParaRPr lang="zh-TW" altLang="en-US" sz="6000" b="1" dirty="0">
              <a:solidFill>
                <a:schemeClr val="bg1"/>
              </a:solidFill>
              <a:latin typeface="Arial" panose="020B0604020202020204" pitchFamily="34" charset="0"/>
              <a:ea typeface="華康儷粗黑(P)" panose="020B0700000000000000" pitchFamily="34" charset="-120"/>
              <a:cs typeface="Arial" panose="020B0604020202020204" pitchFamily="34" charset="0"/>
            </a:endParaRPr>
          </a:p>
        </p:txBody>
      </p:sp>
      <p:sp>
        <p:nvSpPr>
          <p:cNvPr id="6" name="內容版面配置區 3">
            <a:extLst>
              <a:ext uri="{FF2B5EF4-FFF2-40B4-BE49-F238E27FC236}">
                <a16:creationId xmlns:a16="http://schemas.microsoft.com/office/drawing/2014/main" id="{1B9A6986-5C34-498D-BE04-E4147251E456}"/>
              </a:ext>
            </a:extLst>
          </p:cNvPr>
          <p:cNvSpPr txBox="1">
            <a:spLocks/>
          </p:cNvSpPr>
          <p:nvPr/>
        </p:nvSpPr>
        <p:spPr>
          <a:xfrm>
            <a:off x="702470" y="2609359"/>
            <a:ext cx="15773400" cy="6853182"/>
          </a:xfrm>
          <a:prstGeom prst="rect">
            <a:avLst/>
          </a:prstGeom>
        </p:spPr>
        <p:txBody>
          <a:bodyPr vert="horz" lIns="137160" tIns="68580" rIns="137160" bIns="6858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華康儷粗黑(P)" panose="020B0700000000000000" pitchFamily="34" charset="-120"/>
                <a:ea typeface="華康儷粗黑(P)" panose="020B0700000000000000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華康儷細黑(P)" panose="020B0300000000000000" pitchFamily="34" charset="-120"/>
                <a:ea typeface="華康儷細黑(P)" panose="020B0300000000000000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華康儷細黑(P)" panose="020B0300000000000000" pitchFamily="34" charset="-120"/>
                <a:ea typeface="華康儷細黑(P)" panose="020B0300000000000000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華康儷細黑(P)" panose="020B0300000000000000" pitchFamily="34" charset="-120"/>
                <a:ea typeface="華康儷細黑(P)" panose="020B0300000000000000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華康儷細黑(P)" panose="020B0300000000000000" pitchFamily="34" charset="-120"/>
                <a:ea typeface="華康儷細黑(P)" panose="020B0300000000000000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6750"/>
              </a:lnSpc>
            </a:pPr>
            <a:r>
              <a:rPr lang="en-US" altLang="zh-HK" sz="4800" dirty="0">
                <a:latin typeface="+mn-lt"/>
                <a:cs typeface="Arial" panose="020B0604020202020204" pitchFamily="34" charset="0"/>
              </a:rPr>
              <a:t> Background</a:t>
            </a:r>
          </a:p>
          <a:p>
            <a:pPr>
              <a:lnSpc>
                <a:spcPts val="6750"/>
              </a:lnSpc>
            </a:pPr>
            <a:r>
              <a:rPr lang="en-US" altLang="zh-HK" sz="4800" dirty="0">
                <a:latin typeface="+mn-lt"/>
                <a:cs typeface="Arial" panose="020B0604020202020204" pitchFamily="34" charset="0"/>
              </a:rPr>
              <a:t> Literature Review</a:t>
            </a:r>
          </a:p>
          <a:p>
            <a:pPr>
              <a:lnSpc>
                <a:spcPts val="6750"/>
              </a:lnSpc>
            </a:pPr>
            <a:r>
              <a:rPr lang="en-US" altLang="zh-HK" sz="4800" dirty="0">
                <a:latin typeface="+mn-lt"/>
                <a:cs typeface="Arial" panose="020B0604020202020204" pitchFamily="34" charset="0"/>
              </a:rPr>
              <a:t> Methodology</a:t>
            </a:r>
          </a:p>
          <a:p>
            <a:pPr>
              <a:lnSpc>
                <a:spcPts val="6750"/>
              </a:lnSpc>
            </a:pPr>
            <a:r>
              <a:rPr lang="en-US" altLang="zh-HK" sz="4800" dirty="0">
                <a:latin typeface="+mn-lt"/>
                <a:cs typeface="Arial" panose="020B0604020202020204" pitchFamily="34" charset="0"/>
              </a:rPr>
              <a:t> Experiment Results</a:t>
            </a:r>
          </a:p>
          <a:p>
            <a:pPr>
              <a:lnSpc>
                <a:spcPts val="6750"/>
              </a:lnSpc>
            </a:pPr>
            <a:r>
              <a:rPr lang="en-US" altLang="zh-HK" sz="4800" dirty="0">
                <a:latin typeface="+mn-lt"/>
                <a:cs typeface="Arial" panose="020B0604020202020204" pitchFamily="34" charset="0"/>
              </a:rPr>
              <a:t> </a:t>
            </a:r>
            <a:r>
              <a:rPr lang="en-US" altLang="zh-HK" sz="4800" dirty="0" err="1">
                <a:latin typeface="+mn-lt"/>
                <a:cs typeface="Arial" panose="020B0604020202020204" pitchFamily="34" charset="0"/>
              </a:rPr>
              <a:t>Disscusion</a:t>
            </a:r>
            <a:r>
              <a:rPr lang="en-US" altLang="zh-HK" sz="4800" dirty="0">
                <a:latin typeface="+mn-lt"/>
                <a:cs typeface="Arial" panose="020B0604020202020204" pitchFamily="34" charset="0"/>
              </a:rPr>
              <a:t> &amp; Future Works</a:t>
            </a:r>
            <a:endParaRPr lang="zh-HK" altLang="en-US" sz="4800" dirty="0"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779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D1BF412-4165-A9F3-C600-DB6BA1FB9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470" y="145229"/>
            <a:ext cx="1234440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68580" rIns="137160" bIns="6858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6000" b="1" dirty="0">
                <a:solidFill>
                  <a:schemeClr val="bg1"/>
                </a:solidFill>
                <a:latin typeface="Arial" panose="020B0604020202020204" pitchFamily="34" charset="0"/>
                <a:ea typeface="華康儷粗黑(P)" panose="020B0700000000000000" pitchFamily="34" charset="-120"/>
                <a:cs typeface="Arial" panose="020B0604020202020204" pitchFamily="34" charset="0"/>
              </a:rPr>
              <a:t>Background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5D8573-7981-5BBE-166B-6556A7D4101B}"/>
              </a:ext>
            </a:extLst>
          </p:cNvPr>
          <p:cNvSpPr txBox="1"/>
          <p:nvPr/>
        </p:nvSpPr>
        <p:spPr>
          <a:xfrm>
            <a:off x="831272" y="2216727"/>
            <a:ext cx="16431492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kumimoji="1" lang="en-US" altLang="zh-CN" sz="3200" dirty="0"/>
              <a:t>Vision-Language-Action Models</a:t>
            </a:r>
            <a:r>
              <a:rPr kumimoji="1" lang="en-US" altLang="zh-CN" sz="3200" dirty="0">
                <a:sym typeface="Wingdings" pitchFamily="2" charset="2"/>
              </a:rPr>
              <a:t> (VLA)</a:t>
            </a:r>
            <a:endParaRPr kumimoji="1" lang="en-US" altLang="zh-CN" sz="3200" dirty="0"/>
          </a:p>
          <a:p>
            <a:pPr marL="914400" lvl="1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kumimoji="1" lang="en-US" altLang="zh-CN" sz="3200" dirty="0"/>
              <a:t>Build upon large VLM models, and finetune them with robotic datasets</a:t>
            </a:r>
          </a:p>
          <a:p>
            <a:pPr marL="914400" lvl="1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kumimoji="1" lang="en-US" altLang="zh-CN" sz="3200" dirty="0"/>
              <a:t>Take in both images and language commands, and output control actions</a:t>
            </a:r>
          </a:p>
          <a:p>
            <a:pPr marL="914400" lvl="1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kumimoji="1" lang="en-US" altLang="zh-CN" sz="3200" dirty="0"/>
              <a:t>Enables </a:t>
            </a:r>
            <a:r>
              <a:rPr kumimoji="1" lang="en-US" altLang="zh-CN" sz="3200" b="1" dirty="0"/>
              <a:t>language-conditioned control</a:t>
            </a:r>
            <a:r>
              <a:rPr kumimoji="1" lang="en-US" altLang="zh-CN" sz="3200" dirty="0"/>
              <a:t>, </a:t>
            </a:r>
            <a:r>
              <a:rPr kumimoji="1" lang="en-US" altLang="zh-CN" sz="3200" b="1" dirty="0"/>
              <a:t>semantic generalization </a:t>
            </a:r>
            <a:r>
              <a:rPr kumimoji="1" lang="en-US" altLang="zh-CN" sz="3200" dirty="0"/>
              <a:t>and </a:t>
            </a:r>
            <a:r>
              <a:rPr kumimoji="1" lang="en-US" altLang="zh-CN" sz="3200" b="1" dirty="0"/>
              <a:t>zero-shot reasoning</a:t>
            </a:r>
            <a:br>
              <a:rPr kumimoji="1" lang="en-US" altLang="zh-CN" sz="3200" b="1" dirty="0"/>
            </a:br>
            <a:endParaRPr kumimoji="1" lang="en-US" altLang="zh-CN" sz="3200" b="1" dirty="0"/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kumimoji="1" lang="en-US" altLang="zh-CN" sz="3200" dirty="0"/>
              <a:t>Challenge: </a:t>
            </a:r>
            <a:r>
              <a:rPr lang="en-US" altLang="zh-CN" sz="3200" dirty="0"/>
              <a:t>Good on tasks seen during training but </a:t>
            </a:r>
            <a:r>
              <a:rPr lang="en-US" altLang="zh-CN" sz="3200" b="1" dirty="0"/>
              <a:t>struggle to adapt</a:t>
            </a:r>
            <a:r>
              <a:rPr lang="en-US" altLang="zh-CN" sz="3200" dirty="0"/>
              <a:t> to </a:t>
            </a:r>
            <a:r>
              <a:rPr lang="en-US" altLang="zh-CN" sz="3200" b="1" dirty="0"/>
              <a:t>new robots or unseen tasks</a:t>
            </a:r>
            <a:r>
              <a:rPr lang="en-US" altLang="zh-CN" sz="3200" dirty="0"/>
              <a:t>.</a:t>
            </a:r>
            <a:r>
              <a:rPr lang="zh-CN" altLang="zh-CN" sz="3200" dirty="0"/>
              <a:t> </a:t>
            </a:r>
            <a:endParaRPr lang="en-US" altLang="zh-CN" sz="3200" dirty="0"/>
          </a:p>
          <a:p>
            <a:pPr marL="914400" lvl="1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kumimoji="1" lang="en-US" altLang="zh-CN" sz="3200" b="1" dirty="0"/>
              <a:t>We usually need to finetune it.</a:t>
            </a:r>
            <a:br>
              <a:rPr kumimoji="1" lang="en-US" altLang="zh-CN" sz="3200" b="1" dirty="0"/>
            </a:br>
            <a:endParaRPr kumimoji="1" lang="en-US" altLang="zh-CN" sz="3200" b="1" dirty="0"/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kumimoji="1" lang="en-US" altLang="zh-CN" sz="3200" b="1" dirty="0"/>
              <a:t>RQ: </a:t>
            </a:r>
            <a:r>
              <a:rPr lang="en-US" altLang="zh-CN" sz="3200" b="1" dirty="0"/>
              <a:t>How can we fine-tune VLAs more effectively, to achieve both high performance and real-time inference speed?</a:t>
            </a:r>
            <a:r>
              <a:rPr lang="zh-CN" altLang="zh-CN" sz="3200" dirty="0"/>
              <a:t> </a:t>
            </a:r>
            <a:endParaRPr kumimoji="1" lang="en-US" altLang="zh-CN" sz="3200" b="1" dirty="0"/>
          </a:p>
        </p:txBody>
      </p:sp>
    </p:spTree>
    <p:extLst>
      <p:ext uri="{BB962C8B-B14F-4D97-AF65-F5344CB8AC3E}">
        <p14:creationId xmlns:p14="http://schemas.microsoft.com/office/powerpoint/2010/main" val="348526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9C076D9-E8CA-AA16-976B-4C9BEFA46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919" y="2438401"/>
            <a:ext cx="15773400" cy="61791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3200" dirty="0"/>
              <a:t>RT-2, </a:t>
            </a:r>
            <a:r>
              <a:rPr lang="en-US" altLang="zh-CN" sz="3200" dirty="0" err="1"/>
              <a:t>OpenVLA</a:t>
            </a:r>
            <a:r>
              <a:rPr lang="en-US" altLang="zh-CN" sz="3200" dirty="0"/>
              <a:t>, and π0</a:t>
            </a:r>
          </a:p>
          <a:p>
            <a:pPr lvl="1">
              <a:lnSpc>
                <a:spcPct val="100000"/>
              </a:lnSpc>
            </a:pPr>
            <a:r>
              <a:rPr lang="en-US" altLang="zh-CN" sz="3200" b="1" dirty="0"/>
              <a:t>Autoregressive Action Generation - </a:t>
            </a:r>
            <a:r>
              <a:rPr lang="en-US" altLang="zh-CN" sz="3200" b="1" dirty="0">
                <a:solidFill>
                  <a:srgbClr val="FF0000"/>
                </a:solidFill>
              </a:rPr>
              <a:t>High Latency</a:t>
            </a:r>
          </a:p>
          <a:p>
            <a:pPr>
              <a:lnSpc>
                <a:spcPct val="100000"/>
              </a:lnSpc>
            </a:pPr>
            <a:r>
              <a:rPr kumimoji="1" lang="en-US" altLang="zh-CN" sz="3200" dirty="0" err="1"/>
              <a:t>OpenVLA</a:t>
            </a:r>
            <a:r>
              <a:rPr kumimoji="1" lang="en-US" altLang="zh-CN" sz="3200" dirty="0"/>
              <a:t>-mini</a:t>
            </a:r>
            <a:r>
              <a:rPr kumimoji="1" lang="en-US" altLang="zh-CN" sz="3200" b="1" dirty="0"/>
              <a:t>: Vector Quantization (VQ)</a:t>
            </a:r>
            <a:br>
              <a:rPr kumimoji="1" lang="en-US" altLang="zh-CN" sz="3200" b="1" dirty="0"/>
            </a:br>
            <a:r>
              <a:rPr kumimoji="1" lang="en-US" altLang="zh-CN" sz="3200" dirty="0"/>
              <a:t>FAST: </a:t>
            </a:r>
            <a:r>
              <a:rPr kumimoji="1" lang="en-US" altLang="zh-CN" sz="3200" b="1" dirty="0"/>
              <a:t>Discrete cosine transforms for compact action chunks</a:t>
            </a:r>
            <a:r>
              <a:rPr kumimoji="1" lang="zh-CN" altLang="zh-CN" sz="3200" b="1" dirty="0"/>
              <a:t> </a:t>
            </a:r>
            <a:endParaRPr kumimoji="1" lang="en-US" altLang="zh-CN" sz="3200" b="1" dirty="0"/>
          </a:p>
          <a:p>
            <a:pPr lvl="1">
              <a:lnSpc>
                <a:spcPct val="10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Latency between chunks</a:t>
            </a:r>
            <a:r>
              <a:rPr lang="zh-CN" altLang="zh-CN" sz="3200" dirty="0">
                <a:solidFill>
                  <a:srgbClr val="FF0000"/>
                </a:solidFill>
              </a:rPr>
              <a:t> 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3200" b="1" dirty="0"/>
              <a:t>Diffusion-based</a:t>
            </a:r>
            <a:r>
              <a:rPr lang="en-US" altLang="zh-CN" sz="3200" dirty="0"/>
              <a:t> VLAs (e.g. RDT-1B and π0):</a:t>
            </a:r>
          </a:p>
          <a:p>
            <a:pPr lvl="1">
              <a:lnSpc>
                <a:spcPct val="10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Multiple denoising steps</a:t>
            </a:r>
            <a:br>
              <a:rPr lang="en-US" altLang="zh-CN" sz="3200" b="1" dirty="0">
                <a:solidFill>
                  <a:srgbClr val="FF0000"/>
                </a:solidFill>
              </a:rPr>
            </a:br>
            <a:endParaRPr lang="en-US" altLang="zh-CN" sz="3200" b="1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3600" dirty="0"/>
              <a:t>This paper, therefore, conducts a </a:t>
            </a:r>
            <a:r>
              <a:rPr lang="en-US" altLang="zh-CN" sz="3600" b="1" dirty="0"/>
              <a:t>systematic empirical study</a:t>
            </a:r>
            <a:r>
              <a:rPr lang="en-US" altLang="zh-CN" sz="3600" dirty="0"/>
              <a:t> to identify which design decisions truly matter for efficient, high-performance fine-tuning.</a:t>
            </a:r>
            <a:r>
              <a:rPr lang="zh-CN" altLang="zh-CN" sz="3600" dirty="0"/>
              <a:t> </a:t>
            </a:r>
            <a:endParaRPr kumimoji="1" lang="en-US" altLang="zh-CN" sz="3600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24D43B-F667-9A99-CCFC-069A10E69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470" y="145229"/>
            <a:ext cx="1234440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68580" rIns="137160" bIns="6858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6000" b="1" dirty="0">
                <a:solidFill>
                  <a:schemeClr val="bg1"/>
                </a:solidFill>
                <a:latin typeface="Arial" panose="020B0604020202020204" pitchFamily="34" charset="0"/>
                <a:ea typeface="華康儷粗黑(P)" panose="020B0700000000000000" pitchFamily="34" charset="-120"/>
                <a:cs typeface="Arial" panose="020B0604020202020204" pitchFamily="34" charset="0"/>
              </a:rPr>
              <a:t>Related Works</a:t>
            </a:r>
          </a:p>
        </p:txBody>
      </p:sp>
    </p:spTree>
    <p:extLst>
      <p:ext uri="{BB962C8B-B14F-4D97-AF65-F5344CB8AC3E}">
        <p14:creationId xmlns:p14="http://schemas.microsoft.com/office/powerpoint/2010/main" val="872687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37F22-866B-E905-8F17-7B22B350A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AC13E2A-B1C0-CBF3-67B6-72120CF05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470" y="145229"/>
            <a:ext cx="1234440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68580" rIns="137160" bIns="6858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6000" b="1" dirty="0">
                <a:solidFill>
                  <a:schemeClr val="bg1"/>
                </a:solidFill>
                <a:latin typeface="Arial" panose="020B0604020202020204" pitchFamily="34" charset="0"/>
                <a:ea typeface="華康儷粗黑(P)" panose="020B0700000000000000" pitchFamily="34" charset="-120"/>
                <a:cs typeface="Arial" panose="020B0604020202020204" pitchFamily="34" charset="0"/>
              </a:rPr>
              <a:t>Method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248C6B-CD1E-53DC-DCBD-CFD046886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030" y="2153581"/>
            <a:ext cx="11965970" cy="7140758"/>
          </a:xfrm>
          <a:prstGeom prst="rect">
            <a:avLst/>
          </a:prstGeom>
        </p:spPr>
      </p:pic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74DEE12-94B8-538F-BEE8-851320B82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376" y="2488652"/>
            <a:ext cx="6507222" cy="668264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sz="3200" dirty="0"/>
              <a:t>The authors carefully study </a:t>
            </a:r>
            <a:r>
              <a:rPr lang="en-US" altLang="zh-CN" sz="3200" b="1" dirty="0"/>
              <a:t>three key design decisions</a:t>
            </a:r>
            <a:r>
              <a:rPr lang="en-US" altLang="zh-CN" sz="3200" dirty="0"/>
              <a:t> during fine-tuning:</a:t>
            </a:r>
            <a:endParaRPr lang="zh-CN" altLang="zh-CN" sz="3200" dirty="0"/>
          </a:p>
          <a:p>
            <a:pPr lvl="0">
              <a:lnSpc>
                <a:spcPct val="100000"/>
              </a:lnSpc>
            </a:pPr>
            <a:r>
              <a:rPr lang="en-US" altLang="zh-CN" sz="3200" dirty="0"/>
              <a:t>How actions are generated</a:t>
            </a:r>
          </a:p>
          <a:p>
            <a:pPr lvl="1">
              <a:lnSpc>
                <a:spcPct val="100000"/>
              </a:lnSpc>
            </a:pPr>
            <a:r>
              <a:rPr lang="en-US" altLang="zh-CN" sz="2600" b="1" dirty="0"/>
              <a:t>Parallel Decoding </a:t>
            </a:r>
            <a:r>
              <a:rPr lang="en-US" altLang="zh-CN" sz="2600" dirty="0"/>
              <a:t>instead of </a:t>
            </a:r>
            <a:r>
              <a:rPr lang="en-US" altLang="zh-CN" sz="2600" b="1" dirty="0"/>
              <a:t>AR</a:t>
            </a:r>
            <a:endParaRPr lang="zh-CN" altLang="zh-CN" sz="2600" b="1" dirty="0"/>
          </a:p>
          <a:p>
            <a:pPr lvl="0">
              <a:lnSpc>
                <a:spcPct val="100000"/>
              </a:lnSpc>
            </a:pPr>
            <a:r>
              <a:rPr lang="en-US" altLang="zh-CN" sz="3200" dirty="0"/>
              <a:t>How actions are represented</a:t>
            </a:r>
          </a:p>
          <a:p>
            <a:pPr lvl="1">
              <a:lnSpc>
                <a:spcPct val="100000"/>
              </a:lnSpc>
            </a:pPr>
            <a:r>
              <a:rPr lang="en-US" altLang="zh-CN" sz="2600" b="1" dirty="0"/>
              <a:t>Continuous </a:t>
            </a:r>
            <a:r>
              <a:rPr lang="en-US" altLang="zh-CN" sz="2600" dirty="0"/>
              <a:t>instead of</a:t>
            </a:r>
            <a:r>
              <a:rPr lang="en-US" altLang="zh-CN" sz="2600" b="1" dirty="0"/>
              <a:t> Discrete</a:t>
            </a:r>
            <a:endParaRPr lang="zh-CN" altLang="zh-CN" sz="2600" b="1" dirty="0"/>
          </a:p>
          <a:p>
            <a:pPr lvl="0">
              <a:lnSpc>
                <a:spcPct val="100000"/>
              </a:lnSpc>
            </a:pPr>
            <a:r>
              <a:rPr lang="en-US" altLang="zh-CN" sz="3200" dirty="0"/>
              <a:t>What learning objective to use.</a:t>
            </a:r>
            <a:endParaRPr lang="en-US" altLang="zh-CN" sz="2600" dirty="0"/>
          </a:p>
          <a:p>
            <a:pPr lvl="1">
              <a:lnSpc>
                <a:spcPct val="100000"/>
              </a:lnSpc>
            </a:pPr>
            <a:r>
              <a:rPr lang="en-US" altLang="zh-CN" sz="2600" b="1" dirty="0"/>
              <a:t>L1 objective </a:t>
            </a:r>
            <a:r>
              <a:rPr lang="en-US" altLang="zh-CN" sz="2600" dirty="0"/>
              <a:t>instead of </a:t>
            </a:r>
            <a:r>
              <a:rPr lang="en-US" altLang="zh-CN" sz="2600" b="1" dirty="0"/>
              <a:t>Diffusion</a:t>
            </a:r>
            <a:endParaRPr lang="en-US" altLang="zh-CN" sz="3200" b="1" dirty="0"/>
          </a:p>
          <a:p>
            <a:pPr>
              <a:lnSpc>
                <a:spcPct val="100000"/>
              </a:lnSpc>
            </a:pPr>
            <a:r>
              <a:rPr lang="en-US" altLang="zh-CN" sz="3200" dirty="0"/>
              <a:t>Enhance Language Understanding</a:t>
            </a:r>
          </a:p>
          <a:p>
            <a:pPr lvl="1">
              <a:lnSpc>
                <a:spcPct val="100000"/>
              </a:lnSpc>
            </a:pPr>
            <a:r>
              <a:rPr lang="en-US" altLang="zh-CN" sz="2600" b="1" dirty="0" err="1"/>
              <a:t>FiLM</a:t>
            </a:r>
            <a:r>
              <a:rPr lang="en-US" altLang="zh-CN" sz="2600" b="1" dirty="0"/>
              <a:t> </a:t>
            </a:r>
            <a:r>
              <a:rPr lang="en-US" altLang="zh-CN" sz="2600" dirty="0"/>
              <a:t>(New to </a:t>
            </a:r>
            <a:r>
              <a:rPr lang="en-US" altLang="zh-CN" sz="2600" dirty="0" err="1"/>
              <a:t>OpenVLA</a:t>
            </a:r>
            <a:r>
              <a:rPr lang="en-US" altLang="zh-CN" sz="2600" dirty="0"/>
              <a:t> Model)</a:t>
            </a:r>
          </a:p>
        </p:txBody>
      </p:sp>
    </p:spTree>
    <p:extLst>
      <p:ext uri="{BB962C8B-B14F-4D97-AF65-F5344CB8AC3E}">
        <p14:creationId xmlns:p14="http://schemas.microsoft.com/office/powerpoint/2010/main" val="1571181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D421B-2467-BDA4-D90F-C56B00763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8B80FF4-40EC-2E97-FC5A-DFA5BFE7F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470" y="2470244"/>
            <a:ext cx="16561948" cy="612784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3200" dirty="0"/>
              <a:t>Original </a:t>
            </a:r>
            <a:r>
              <a:rPr lang="en-US" altLang="zh-CN" sz="3200" dirty="0" err="1"/>
              <a:t>OpenVLA</a:t>
            </a:r>
            <a:r>
              <a:rPr lang="en-US" altLang="zh-CN" sz="3200" dirty="0"/>
              <a:t>: Actions are generated </a:t>
            </a:r>
            <a:r>
              <a:rPr lang="en-US" altLang="zh-CN" sz="3200" b="1" dirty="0"/>
              <a:t>autoregressively</a:t>
            </a:r>
            <a:r>
              <a:rPr lang="en-US" altLang="zh-CN" sz="3200" dirty="0"/>
              <a:t>: Model predicts one action token at a time, each depending on the previous one. </a:t>
            </a:r>
          </a:p>
          <a:p>
            <a:pPr lvl="1">
              <a:lnSpc>
                <a:spcPct val="100000"/>
              </a:lnSpc>
            </a:pPr>
            <a:r>
              <a:rPr lang="en-US" altLang="zh-CN" sz="3200" b="1" dirty="0"/>
              <a:t>Extremely SLOW! </a:t>
            </a:r>
            <a:r>
              <a:rPr lang="en-US" altLang="zh-CN" sz="3200" b="1" dirty="0">
                <a:sym typeface="Wingdings" pitchFamily="2" charset="2"/>
              </a:rPr>
              <a:t>(3-5Hz)</a:t>
            </a:r>
            <a:endParaRPr lang="en-US" altLang="zh-CN" sz="3200" b="1" dirty="0"/>
          </a:p>
          <a:p>
            <a:pPr>
              <a:lnSpc>
                <a:spcPct val="100000"/>
              </a:lnSpc>
            </a:pPr>
            <a:r>
              <a:rPr lang="en-US" altLang="zh-CN" sz="3200" dirty="0" err="1"/>
              <a:t>OpenVLA</a:t>
            </a:r>
            <a:r>
              <a:rPr lang="en-US" altLang="zh-CN" sz="3200" dirty="0"/>
              <a:t>-OFT: </a:t>
            </a:r>
            <a:r>
              <a:rPr lang="en-US" altLang="zh-CN" sz="3200" b="1" dirty="0"/>
              <a:t>Parallel Decoding</a:t>
            </a:r>
            <a:r>
              <a:rPr lang="en-US" altLang="zh-CN" sz="3200" dirty="0"/>
              <a:t>, predicts all actions at once, in a single forward pass.</a:t>
            </a:r>
            <a:r>
              <a:rPr lang="zh-CN" altLang="zh-CN" sz="3200" dirty="0"/>
              <a:t> </a:t>
            </a:r>
            <a:endParaRPr lang="en-US" altLang="zh-CN" sz="3200" dirty="0"/>
          </a:p>
          <a:p>
            <a:pPr lvl="1">
              <a:lnSpc>
                <a:spcPct val="100000"/>
              </a:lnSpc>
            </a:pPr>
            <a:r>
              <a:rPr lang="en-US" altLang="zh-CN" sz="3200" b="1" dirty="0"/>
              <a:t>bidirectional attention</a:t>
            </a:r>
            <a:r>
              <a:rPr lang="en-US" altLang="zh-CN" sz="3200" dirty="0"/>
              <a:t>, allowing the decoder to see all positions simultaneously.</a:t>
            </a:r>
            <a:r>
              <a:rPr lang="zh-CN" altLang="zh-CN" sz="3200" dirty="0"/>
              <a:t> </a:t>
            </a:r>
            <a:endParaRPr lang="en-US" altLang="zh-CN" sz="3200" dirty="0"/>
          </a:p>
          <a:p>
            <a:pPr>
              <a:lnSpc>
                <a:spcPct val="100000"/>
              </a:lnSpc>
            </a:pPr>
            <a:r>
              <a:rPr kumimoji="1" lang="en-US" altLang="zh-CN" sz="3200" b="1" dirty="0"/>
              <a:t>Action chunking</a:t>
            </a:r>
            <a:r>
              <a:rPr kumimoji="1" lang="en-US" altLang="zh-CN" sz="3200" dirty="0"/>
              <a:t>: predicts a chunk of K future actions — for example, 8 or 25 timesteps — all at once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19ED93-A9C9-9C4C-E015-097ACAC35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470" y="145229"/>
            <a:ext cx="1234440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68580" rIns="137160" bIns="6858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6000" b="1" dirty="0">
                <a:solidFill>
                  <a:schemeClr val="bg1"/>
                </a:solidFill>
                <a:latin typeface="Arial" panose="020B0604020202020204" pitchFamily="34" charset="0"/>
                <a:ea typeface="華康儷粗黑(P)" panose="020B0700000000000000" pitchFamily="34" charset="-120"/>
                <a:cs typeface="Arial" panose="020B0604020202020204" pitchFamily="34" charset="0"/>
              </a:rPr>
              <a:t>Parallel Action Decoding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463F7B8-1813-9597-1DA5-E61E56912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396" y="6237026"/>
            <a:ext cx="10453218" cy="333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294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5692B-A018-E1F7-BB65-87F08D1FD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0EF99BF-EDBF-23FC-2E45-0C00E4878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069" y="1978925"/>
            <a:ext cx="17107861" cy="31645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3600" dirty="0"/>
              <a:t>Original </a:t>
            </a:r>
            <a:r>
              <a:rPr lang="en-US" altLang="zh-CN" sz="3600" dirty="0" err="1"/>
              <a:t>OpenVLA</a:t>
            </a:r>
            <a:r>
              <a:rPr lang="en-US" altLang="zh-CN" sz="3600" dirty="0"/>
              <a:t>: Discrete tokens (e.g. dividing each joint angle into 256 bins)</a:t>
            </a:r>
          </a:p>
          <a:p>
            <a:pPr>
              <a:lnSpc>
                <a:spcPct val="100000"/>
              </a:lnSpc>
            </a:pPr>
            <a:r>
              <a:rPr lang="en-US" altLang="zh-CN" sz="3600" dirty="0" err="1"/>
              <a:t>OpenVLA</a:t>
            </a:r>
            <a:r>
              <a:rPr lang="en-US" altLang="zh-CN" sz="3600" dirty="0"/>
              <a:t>-OFT: Add a small </a:t>
            </a:r>
            <a:r>
              <a:rPr lang="en-US" altLang="zh-CN" sz="3600" b="1" dirty="0"/>
              <a:t>MLP head</a:t>
            </a:r>
            <a:r>
              <a:rPr lang="en-US" altLang="zh-CN" sz="3600" dirty="0"/>
              <a:t> to the model: Directly outputs continuous normalized values for each action dimension.</a:t>
            </a:r>
            <a:r>
              <a:rPr lang="zh-CN" altLang="zh-CN" sz="3600" dirty="0"/>
              <a:t> </a:t>
            </a:r>
            <a:endParaRPr kumimoji="1" lang="en-US" altLang="zh-CN" sz="3600" dirty="0"/>
          </a:p>
          <a:p>
            <a:pPr>
              <a:lnSpc>
                <a:spcPct val="100000"/>
              </a:lnSpc>
            </a:pPr>
            <a:r>
              <a:rPr lang="en-US" altLang="zh-CN" sz="3600" b="1" dirty="0"/>
              <a:t>Smoother</a:t>
            </a:r>
            <a:r>
              <a:rPr lang="en-US" altLang="zh-CN" sz="3600" dirty="0"/>
              <a:t>, </a:t>
            </a:r>
            <a:r>
              <a:rPr lang="en-US" altLang="zh-CN" sz="3600" b="1" dirty="0"/>
              <a:t>more accurate motor control</a:t>
            </a:r>
            <a:r>
              <a:rPr lang="en-US" altLang="zh-CN" sz="3600" dirty="0"/>
              <a:t>, especially for dexterous or contact-rich tasks.</a:t>
            </a:r>
            <a:r>
              <a:rPr lang="zh-CN" altLang="zh-CN" sz="3600" dirty="0"/>
              <a:t> </a:t>
            </a:r>
            <a:endParaRPr kumimoji="1" lang="zh-CN" altLang="en-US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2CF229-0275-EF1A-B19C-6A5531E1F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470" y="145229"/>
            <a:ext cx="1234440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68580" rIns="137160" bIns="6858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5400" b="1" dirty="0">
                <a:solidFill>
                  <a:schemeClr val="bg1"/>
                </a:solidFill>
                <a:latin typeface="Arial" panose="020B0604020202020204" pitchFamily="34" charset="0"/>
                <a:ea typeface="華康儷粗黑(P)" panose="020B0700000000000000" pitchFamily="34" charset="-120"/>
                <a:cs typeface="Arial" panose="020B0604020202020204" pitchFamily="34" charset="0"/>
              </a:rPr>
              <a:t>Continuous Action Representation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1DD345D-BE37-ACEA-80CB-3A79549D8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271" y="5409122"/>
            <a:ext cx="11794787" cy="362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578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A674C-41BD-DB4F-1055-2B9DC87AE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E15FA7A-A2D6-394E-438E-38BC74B35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069" y="1978925"/>
            <a:ext cx="17107861" cy="3164575"/>
          </a:xfrm>
        </p:spPr>
        <p:txBody>
          <a:bodyPr>
            <a:normAutofit/>
          </a:bodyPr>
          <a:lstStyle/>
          <a:p>
            <a:pPr lvl="0"/>
            <a:r>
              <a:rPr lang="en-US" altLang="zh-CN" sz="3200" b="1" dirty="0"/>
              <a:t>Next-token prediction</a:t>
            </a:r>
            <a:r>
              <a:rPr lang="en-US" altLang="zh-CN" sz="3200" dirty="0"/>
              <a:t>, which is the classic cross-entropy loss for discrete tokens.</a:t>
            </a:r>
            <a:endParaRPr lang="zh-CN" altLang="zh-CN" sz="3200" dirty="0"/>
          </a:p>
          <a:p>
            <a:pPr lvl="0"/>
            <a:r>
              <a:rPr lang="en-US" altLang="zh-CN" sz="3200" b="1" dirty="0"/>
              <a:t>Diffusion modeling</a:t>
            </a:r>
            <a:r>
              <a:rPr lang="en-US" altLang="zh-CN" sz="3200" dirty="0"/>
              <a:t>, where the model learns to denoise actions gradually, capturing multiple possible solutions.</a:t>
            </a:r>
            <a:endParaRPr lang="zh-CN" altLang="zh-CN" sz="3200" dirty="0"/>
          </a:p>
          <a:p>
            <a:pPr lvl="0"/>
            <a:r>
              <a:rPr lang="en-US" altLang="zh-CN" sz="3200" b="1" dirty="0"/>
              <a:t>Simple L1 regression</a:t>
            </a:r>
            <a:r>
              <a:rPr lang="en-US" altLang="zh-CN" sz="3200" dirty="0"/>
              <a:t>, which directly minimizes the difference between the predicted and ground-truth continuous actions. </a:t>
            </a:r>
            <a:r>
              <a:rPr lang="en-US" altLang="zh-CN" sz="3600" b="1" dirty="0"/>
              <a:t>simple, fast, and converges quickly.</a:t>
            </a:r>
            <a:r>
              <a:rPr lang="zh-CN" altLang="zh-CN" sz="3600" b="1" dirty="0"/>
              <a:t> </a:t>
            </a:r>
            <a:endParaRPr lang="zh-CN" altLang="zh-CN" sz="32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F236BD-962B-2C7A-A45B-C29D7C5273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470" y="145229"/>
            <a:ext cx="1234440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68580" rIns="137160" bIns="6858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5400" b="1" dirty="0">
                <a:solidFill>
                  <a:schemeClr val="bg1"/>
                </a:solidFill>
                <a:latin typeface="Arial" panose="020B0604020202020204" pitchFamily="34" charset="0"/>
                <a:ea typeface="華康儷粗黑(P)" panose="020B0700000000000000" pitchFamily="34" charset="-120"/>
                <a:cs typeface="Arial" panose="020B0604020202020204" pitchFamily="34" charset="0"/>
              </a:rPr>
              <a:t>Learning Objective Choice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DBA3A5-7811-A896-8D22-40ACA5AFB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938" y="4955866"/>
            <a:ext cx="13808122" cy="507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04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00EFD-C086-71DA-57FB-2DC357547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B80606F-C630-540A-CB66-0D4C4D40D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069" y="1978925"/>
            <a:ext cx="17107861" cy="3164575"/>
          </a:xfrm>
        </p:spPr>
        <p:txBody>
          <a:bodyPr>
            <a:normAutofit/>
          </a:bodyPr>
          <a:lstStyle/>
          <a:p>
            <a:pPr lvl="0"/>
            <a:r>
              <a:rPr lang="en-US" altLang="zh-CN" sz="3200" dirty="0"/>
              <a:t>Models sometimes ignore the language command, focusing too much on visual cues.</a:t>
            </a:r>
          </a:p>
          <a:p>
            <a:pPr lvl="1"/>
            <a:r>
              <a:rPr lang="en-US" altLang="zh-CN" b="1" dirty="0"/>
              <a:t>Feature-wise Linear Modulation (</a:t>
            </a:r>
            <a:r>
              <a:rPr lang="en-US" altLang="zh-CN" b="1" dirty="0" err="1"/>
              <a:t>FiLM</a:t>
            </a:r>
            <a:r>
              <a:rPr lang="en-US" altLang="zh-CN" b="1" dirty="0"/>
              <a:t>)</a:t>
            </a:r>
            <a:r>
              <a:rPr lang="en-US" altLang="zh-CN" dirty="0"/>
              <a:t>.</a:t>
            </a:r>
            <a:endParaRPr lang="zh-CN" altLang="zh-CN" dirty="0"/>
          </a:p>
          <a:p>
            <a:endParaRPr lang="zh-CN" altLang="zh-CN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BC2178-B387-DF64-C2E2-22048C262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470" y="145229"/>
            <a:ext cx="1234440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68580" rIns="137160" bIns="6858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5400" b="1" dirty="0">
                <a:solidFill>
                  <a:schemeClr val="bg1"/>
                </a:solidFill>
                <a:latin typeface="Arial" panose="020B0604020202020204" pitchFamily="34" charset="0"/>
                <a:ea typeface="華康儷粗黑(P)" panose="020B0700000000000000" pitchFamily="34" charset="-120"/>
                <a:cs typeface="Arial" panose="020B0604020202020204" pitchFamily="34" charset="0"/>
              </a:rPr>
              <a:t>Enhancing Language Understanding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FBC8BBD-6301-20AC-E64E-421C22BFB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039" y="3103953"/>
            <a:ext cx="13693922" cy="718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083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48736-742D-7685-7B7A-2822827D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7B1070D-8AE5-F586-1786-0515B5F5C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070" y="1978925"/>
            <a:ext cx="4814444" cy="3164575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PD: Parallel Decoding</a:t>
            </a:r>
          </a:p>
          <a:p>
            <a:r>
              <a:rPr lang="en-US" altLang="zh-CN" sz="3200" dirty="0"/>
              <a:t>AC: Action Chunking</a:t>
            </a:r>
          </a:p>
          <a:p>
            <a:r>
              <a:rPr lang="en-US" altLang="zh-CN" sz="3200" dirty="0"/>
              <a:t>Cont-L1: Continuous – L1</a:t>
            </a:r>
          </a:p>
          <a:p>
            <a:endParaRPr lang="en-US" altLang="zh-CN" sz="3200" dirty="0"/>
          </a:p>
          <a:p>
            <a:r>
              <a:rPr lang="en-US" altLang="zh-CN" sz="3200" dirty="0"/>
              <a:t>Throughput: ~109Hz</a:t>
            </a:r>
          </a:p>
          <a:p>
            <a:endParaRPr lang="zh-CN" altLang="zh-CN" sz="3200" dirty="0"/>
          </a:p>
          <a:p>
            <a:endParaRPr lang="zh-CN" altLang="zh-CN" sz="4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207545-A936-7423-97E1-20772A5E2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470" y="145229"/>
            <a:ext cx="1234440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68580" rIns="137160" bIns="6858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5400" b="1" dirty="0">
                <a:solidFill>
                  <a:schemeClr val="bg1"/>
                </a:solidFill>
                <a:latin typeface="Arial" panose="020B0604020202020204" pitchFamily="34" charset="0"/>
                <a:ea typeface="華康儷粗黑(P)" panose="020B0700000000000000" pitchFamily="34" charset="-120"/>
                <a:cs typeface="Arial" panose="020B0604020202020204" pitchFamily="34" charset="0"/>
              </a:rPr>
              <a:t>Experiments: LIBERO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0FA252-C659-DB29-5247-A1ED0CDEC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169" y="1859729"/>
            <a:ext cx="12344400" cy="84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800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AB38B-1DD8-1450-7AA7-3A03492FA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589D5EB-ADF2-67B3-0F7C-EFDA46FCE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069" y="1978925"/>
            <a:ext cx="17107861" cy="316457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zh-CN" altLang="zh-CN" dirty="0"/>
          </a:p>
          <a:p>
            <a:endParaRPr lang="zh-CN" altLang="zh-CN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FFF6BE-1B89-2EAC-E902-FC16C8BDF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470" y="145229"/>
            <a:ext cx="1234440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68580" rIns="137160" bIns="6858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5400" b="1" dirty="0">
                <a:solidFill>
                  <a:schemeClr val="bg1"/>
                </a:solidFill>
                <a:latin typeface="Arial" panose="020B0604020202020204" pitchFamily="34" charset="0"/>
                <a:ea typeface="華康儷粗黑(P)" panose="020B0700000000000000" pitchFamily="34" charset="-120"/>
                <a:cs typeface="Arial" panose="020B0604020202020204" pitchFamily="34" charset="0"/>
              </a:rPr>
              <a:t>Experiments: ALOHA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C5D64C6-F3D5-B3FC-EAB1-BBD8BC98E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573" y="2292272"/>
            <a:ext cx="16199425" cy="722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02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497D6-2473-B852-C8ED-2BFB23C6A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0D86E05-CA0B-E0CB-E7D1-5D960F550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015" y="2588525"/>
            <a:ext cx="16007676" cy="6056711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5900" dirty="0"/>
              <a:t>By combining </a:t>
            </a:r>
            <a:r>
              <a:rPr lang="en-US" altLang="zh-CN" sz="5900" b="1" dirty="0"/>
              <a:t>parallel decoding</a:t>
            </a:r>
            <a:r>
              <a:rPr lang="en-US" altLang="zh-CN" sz="5900" dirty="0"/>
              <a:t>, </a:t>
            </a:r>
            <a:r>
              <a:rPr lang="en-US" altLang="zh-CN" sz="5900" b="1" dirty="0"/>
              <a:t>action chunking</a:t>
            </a:r>
            <a:r>
              <a:rPr lang="en-US" altLang="zh-CN" sz="5900" dirty="0"/>
              <a:t>, </a:t>
            </a:r>
            <a:r>
              <a:rPr lang="en-US" altLang="zh-CN" sz="5900" b="1" dirty="0"/>
              <a:t>continuous action representations</a:t>
            </a:r>
            <a:r>
              <a:rPr lang="en-US" altLang="zh-CN" sz="5900" dirty="0"/>
              <a:t>, and a </a:t>
            </a:r>
            <a:r>
              <a:rPr lang="en-US" altLang="zh-CN" sz="5900" b="1" dirty="0"/>
              <a:t>simple L1 regression loss</a:t>
            </a:r>
            <a:r>
              <a:rPr lang="en-US" altLang="zh-CN" sz="5900" dirty="0"/>
              <a:t>, </a:t>
            </a:r>
            <a:r>
              <a:rPr lang="en-US" altLang="zh-CN" sz="5900" dirty="0" err="1"/>
              <a:t>OpenVLA</a:t>
            </a:r>
            <a:r>
              <a:rPr lang="en-US" altLang="zh-CN" sz="5900" dirty="0"/>
              <a:t>-OFT achieves:</a:t>
            </a:r>
            <a:endParaRPr lang="zh-CN" altLang="zh-CN" sz="5900" dirty="0"/>
          </a:p>
          <a:p>
            <a:pPr lvl="0">
              <a:lnSpc>
                <a:spcPct val="170000"/>
              </a:lnSpc>
            </a:pPr>
            <a:r>
              <a:rPr lang="en-US" altLang="zh-CN" sz="5900" b="1" dirty="0"/>
              <a:t>Up to 97% task success rate</a:t>
            </a:r>
            <a:r>
              <a:rPr lang="en-US" altLang="zh-CN" sz="5900" dirty="0"/>
              <a:t> on simulation benchmarks</a:t>
            </a:r>
            <a:endParaRPr lang="zh-CN" altLang="zh-CN" sz="5900" dirty="0"/>
          </a:p>
          <a:p>
            <a:pPr lvl="0">
              <a:lnSpc>
                <a:spcPct val="170000"/>
              </a:lnSpc>
            </a:pPr>
            <a:r>
              <a:rPr lang="en-US" altLang="zh-CN" sz="5900" b="1" dirty="0"/>
              <a:t>Up to 43× faster inference speed</a:t>
            </a:r>
            <a:endParaRPr lang="zh-CN" altLang="zh-CN" sz="5900" dirty="0"/>
          </a:p>
          <a:p>
            <a:pPr lvl="0">
              <a:lnSpc>
                <a:spcPct val="170000"/>
              </a:lnSpc>
            </a:pPr>
            <a:r>
              <a:rPr lang="en-US" altLang="zh-CN" sz="5900" b="1" dirty="0"/>
              <a:t>Strong real-world dexterous control</a:t>
            </a:r>
            <a:endParaRPr lang="zh-CN" altLang="zh-CN" sz="5900" dirty="0"/>
          </a:p>
          <a:p>
            <a:pPr lvl="0">
              <a:lnSpc>
                <a:spcPct val="170000"/>
              </a:lnSpc>
            </a:pPr>
            <a:r>
              <a:rPr lang="en-US" altLang="zh-CN" sz="5900" b="1" dirty="0"/>
              <a:t>Robust language following with </a:t>
            </a:r>
            <a:r>
              <a:rPr lang="en-US" altLang="zh-CN" sz="5900" b="1" dirty="0" err="1"/>
              <a:t>FiLM</a:t>
            </a:r>
            <a:endParaRPr lang="en-US" altLang="zh-CN" sz="5900" b="1" dirty="0"/>
          </a:p>
          <a:p>
            <a:pPr marL="0" lvl="0" indent="0">
              <a:lnSpc>
                <a:spcPct val="120000"/>
              </a:lnSpc>
              <a:buNone/>
            </a:pPr>
            <a:r>
              <a:rPr lang="en-US" altLang="zh-CN" sz="5900" dirty="0"/>
              <a:t>The key takeaway is that </a:t>
            </a:r>
            <a:r>
              <a:rPr lang="en-US" altLang="zh-CN" sz="5900" b="1" dirty="0"/>
              <a:t>architecture simplicity and fine-tuning strategy</a:t>
            </a:r>
            <a:r>
              <a:rPr lang="en-US" altLang="zh-CN" sz="5900" dirty="0"/>
              <a:t> can matter more than model scale or complex generative methods.</a:t>
            </a:r>
            <a:r>
              <a:rPr lang="zh-CN" altLang="zh-CN" sz="5900" dirty="0"/>
              <a:t> </a:t>
            </a:r>
          </a:p>
          <a:p>
            <a:endParaRPr lang="zh-CN" altLang="zh-CN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3562E1-2537-2DE6-25BE-CD009019B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470" y="145229"/>
            <a:ext cx="1234440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7160" tIns="68580" rIns="137160" bIns="68580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5400" b="1" dirty="0">
                <a:solidFill>
                  <a:schemeClr val="bg1"/>
                </a:solidFill>
                <a:latin typeface="Arial" panose="020B0604020202020204" pitchFamily="34" charset="0"/>
                <a:ea typeface="華康儷粗黑(P)" panose="020B0700000000000000" pitchFamily="34" charset="-120"/>
                <a:cs typeface="Arial" panose="020B0604020202020204" pitchFamily="34" charset="0"/>
              </a:rPr>
              <a:t>Discussions</a:t>
            </a:r>
          </a:p>
        </p:txBody>
      </p:sp>
    </p:spTree>
    <p:extLst>
      <p:ext uri="{BB962C8B-B14F-4D97-AF65-F5344CB8AC3E}">
        <p14:creationId xmlns:p14="http://schemas.microsoft.com/office/powerpoint/2010/main" val="2423691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732A8-353F-4F7A-3B59-EF23794C5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94901F-CDC9-8595-A03C-39ABAAF4B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9345" y="2118038"/>
            <a:ext cx="14235632" cy="2205038"/>
          </a:xfrm>
        </p:spPr>
        <p:txBody>
          <a:bodyPr>
            <a:normAutofit/>
          </a:bodyPr>
          <a:lstStyle/>
          <a:p>
            <a:r>
              <a:rPr lang="en-US" altLang="zh-HK"/>
              <a:t>Thanks</a:t>
            </a:r>
            <a:endParaRPr lang="zh-HK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0C3D837-4CAE-D7AA-373D-5C27067E538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039345" y="7226853"/>
            <a:ext cx="13716000" cy="24844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sz="4500" spc="150" dirty="0">
                <a:solidFill>
                  <a:srgbClr val="99CC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Zheng Licheng</a:t>
            </a:r>
          </a:p>
          <a:p>
            <a:pPr marL="0" indent="0">
              <a:buNone/>
            </a:pPr>
            <a:r>
              <a:rPr lang="en-US" altLang="zh-HK" sz="4500" spc="150" dirty="0">
                <a:solidFill>
                  <a:srgbClr val="99CC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 </a:t>
            </a:r>
            <a:r>
              <a:rPr lang="en-US" altLang="zh-HK" sz="4500" spc="150" dirty="0" err="1">
                <a:solidFill>
                  <a:srgbClr val="99CC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Haokun</a:t>
            </a:r>
            <a:endParaRPr lang="en-US" altLang="zh-HK" sz="4500" spc="150" dirty="0">
              <a:solidFill>
                <a:srgbClr val="99CC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HK" sz="4500" spc="150" dirty="0">
                <a:solidFill>
                  <a:srgbClr val="99CC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Chen </a:t>
            </a:r>
            <a:r>
              <a:rPr lang="en-US" altLang="zh-HK" sz="4500" spc="150">
                <a:solidFill>
                  <a:srgbClr val="99CC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Ruanhe</a:t>
            </a:r>
            <a:endParaRPr lang="zh-HK" altLang="en-US" sz="4500" spc="150" dirty="0">
              <a:solidFill>
                <a:srgbClr val="99CC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202011"/>
      </p:ext>
    </p:extLst>
  </p:cSld>
  <p:clrMapOvr>
    <a:masterClrMapping/>
  </p:clrMapOvr>
</p:sld>
</file>

<file path=ppt/theme/theme1.xml><?xml version="1.0" encoding="utf-8"?>
<a:theme xmlns:a="http://schemas.openxmlformats.org/drawingml/2006/main" name="0910-01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0910-01</Template>
  <TotalTime>277</TotalTime>
  <Words>564</Words>
  <Application>Microsoft Macintosh PowerPoint</Application>
  <PresentationFormat>自定义</PresentationFormat>
  <Paragraphs>71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0910-01</vt:lpstr>
      <vt:lpstr>OpenVLA-OFT:   Fine-Tuning Vision-Language-Action Models: Optimizing Speed and Success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力铖 郑</dc:creator>
  <cp:lastModifiedBy>力铖 郑</cp:lastModifiedBy>
  <cp:revision>147</cp:revision>
  <dcterms:created xsi:type="dcterms:W3CDTF">2025-11-05T02:07:36Z</dcterms:created>
  <dcterms:modified xsi:type="dcterms:W3CDTF">2025-11-06T09:08:15Z</dcterms:modified>
</cp:coreProperties>
</file>